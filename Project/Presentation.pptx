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2" r:id="rId3"/>
    <p:sldId id="273" r:id="rId4"/>
    <p:sldId id="275" r:id="rId5"/>
    <p:sldId id="274" r:id="rId6"/>
    <p:sldId id="276" r:id="rId7"/>
    <p:sldId id="277" r:id="rId8"/>
    <p:sldId id="279" r:id="rId9"/>
    <p:sldId id="278" r:id="rId10"/>
    <p:sldId id="280" r:id="rId11"/>
    <p:sldId id="281" r:id="rId12"/>
    <p:sldId id="282" r:id="rId13"/>
    <p:sldId id="283" r:id="rId14"/>
    <p:sldId id="284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BE420-2734-4604-48F7-3F31271E1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D5532-09BC-801C-42E8-4190714D8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FE40C-1C85-BAA6-AFDD-21FA1A07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AB8A-51DD-CD60-6435-ABA81B40A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6323C-9A5E-A8E4-D66D-AEC122E3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306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16D0-47A4-1B62-4949-DB6CE7884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CB409-A988-5E9F-2EC7-1D9233215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403AF-F3DC-84CA-7F5E-E6E2915C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D4EAF-679D-3100-8D74-799392E84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E0CB3-33B4-3BAE-22A1-011944B3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59294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7CB8-BB00-3657-0D77-12FCE064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60C58-D22B-5F2D-350E-BD9244635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49E2E-F417-29D1-1E1F-72FA60D48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93CD8-A830-473C-92F4-921BE9B7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4B275-9A97-D6A4-6F86-DA82FC9B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4033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8929-6530-6A5B-B522-7AA1E90C2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A715-C032-8B47-67CA-D82F840FC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8EFB0-EB68-A640-8BF1-BDB10E259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89473-600A-56B5-EC3B-0CB495B07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B9D8B-0FF5-8ACB-EC40-9AF6F2302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B9500-6968-EC62-71E2-B5D40613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903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A2449-549E-EF52-B04F-1D56F801F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EEF01-B2B5-F6A6-D295-BD18A7DA4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18D22-1469-B18A-EE89-17069E1A8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017AF-A3E4-489B-A3F8-03578270A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B8531-C2FF-42D6-12AF-64A2725B4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B0A1C-E855-48C6-80FF-C6715DEA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0F0D0-6E6A-B1D7-0CC4-976FABB8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C5E00-852C-2EA0-21B1-1708B3FE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930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20930-46AF-864E-E77E-AC50F928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6AD11-0B52-F7FA-CC42-681A322C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71C4FD-D51C-91B0-CA4C-DFFB1A325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E1658-218A-E7A2-967B-CE6AB87B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51623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EB0B-5047-92E7-01C3-472DC6644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73EE80-FDAB-5535-DAB6-56E4567D4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AC6D9-A3AD-DF59-EEA5-3A642632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8001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967D-B601-0C33-74FD-FDBCC222C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8606-49C9-7CDD-769A-CF5F35A71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0EFD7-544D-1851-8397-934B0CCBA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27297-57B6-43B8-0279-B62AE1D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67B76-580F-EFA3-BF75-5C5EB901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ED383-D810-EDF8-7A85-0059FB7C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01684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4B0F-F37C-7DDE-4105-095E088C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910D2-C8A9-F6C4-61C8-929D0BDEEB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15B73-953B-A6A0-8E9F-924EDA731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68D62-3754-B239-3F8C-3FD6EC3C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D1AC0-AE70-9F17-0F48-3AB874F1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19DCF-6FD5-4F8D-B7BC-8307010C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051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707F-76E0-0E94-8856-09B0329E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211DB-9F53-A215-4A83-7D2A142C4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2ED4B-A0E7-E3FA-BE8E-CE489D2E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9915A-176C-2ED7-5ADA-3BF768BB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A1908-E231-059E-0B06-2157BC8BE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8529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72952-BAAB-FF8D-AAE7-B31F6A30A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3017E-03A5-EC47-BD1E-BCD593CA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EE85-F153-E661-2DD7-83DDB0A0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EBD39-9904-7732-8D78-7E05ECA5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4A012-10A4-8FCD-9C6D-7D843659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442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Log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2391" y="2293620"/>
            <a:ext cx="4427220" cy="227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35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529F4F-493B-4C3E-B130-A4F7D922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44B62-6F54-5DC0-9C85-2B16D3019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03E90-D818-D521-FC68-E428836C7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29EECC-0A17-4859-8020-02B7AD02251B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89640-7E48-5EC1-85C0-D610C0018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4E2FC-921B-F9D8-A4FC-65EAD6BDC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368F45-2BAB-47ED-BD64-8B549FE6370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2073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 descr="A city skyline with tall buildings&#10;&#10;AI-generated content may be incorrect.">
            <a:extLst>
              <a:ext uri="{FF2B5EF4-FFF2-40B4-BE49-F238E27FC236}">
                <a16:creationId xmlns:a16="http://schemas.microsoft.com/office/drawing/2014/main" id="{84070814-A02B-9855-BB4E-17873E88B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2329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 noProof="0" dirty="0">
                <a:cs typeface="Arial"/>
              </a:rPr>
              <a:t>Predicting Air Quality in Italy Using Fuzzy and</a:t>
            </a:r>
            <a:br>
              <a:rPr lang="en-US" sz="4400" noProof="0" dirty="0">
                <a:cs typeface="Arial"/>
              </a:rPr>
            </a:br>
            <a:r>
              <a:rPr lang="en-US" sz="4400" noProof="0" dirty="0">
                <a:cs typeface="Arial"/>
              </a:rPr>
              <a:t>Neuro-Fuzzy Modelling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121920" tIns="60960" rIns="121920" bIns="60960" rtlCol="0">
            <a:normAutofit/>
          </a:bodyPr>
          <a:lstStyle/>
          <a:p>
            <a:pPr algn="l">
              <a:spcBef>
                <a:spcPts val="1333"/>
              </a:spcBef>
            </a:pPr>
            <a:endParaRPr lang="en-US" sz="1700" noProof="0" dirty="0">
              <a:cs typeface="Arial"/>
            </a:endParaRPr>
          </a:p>
          <a:p>
            <a:pPr algn="l">
              <a:spcBef>
                <a:spcPts val="1333"/>
              </a:spcBef>
            </a:pPr>
            <a:r>
              <a:rPr lang="en-US" sz="1700" noProof="0" dirty="0">
                <a:cs typeface="Arial"/>
              </a:rPr>
              <a:t>INTELLIGENT SYSTEMS</a:t>
            </a:r>
            <a:endParaRPr lang="en-US" sz="1700" noProof="0" dirty="0">
              <a:latin typeface="Aptos"/>
              <a:cs typeface="Arial"/>
            </a:endParaRPr>
          </a:p>
          <a:p>
            <a:pPr algn="l">
              <a:spcBef>
                <a:spcPts val="1333"/>
              </a:spcBef>
            </a:pPr>
            <a:r>
              <a:rPr lang="en-US" sz="1700" noProof="0" dirty="0">
                <a:latin typeface="Aptos"/>
                <a:cs typeface="Arial"/>
              </a:rPr>
              <a:t>Afonso Duarte (103913)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0280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22B08-DEAD-E5F1-A944-162AA464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noProof="0" dirty="0"/>
              <a:t>Introduction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486E0-D9DD-4D28-00B3-822B9182B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400" noProof="0" dirty="0"/>
              <a:t>Industrial expansion has significantly altered the composition of the atmosphere.</a:t>
            </a:r>
          </a:p>
          <a:p>
            <a:r>
              <a:rPr lang="en-US" sz="2400" noProof="0" dirty="0"/>
              <a:t>Accurately quantifying these changes is essential for environmental monitoring and policy-making.</a:t>
            </a:r>
          </a:p>
          <a:p>
            <a:r>
              <a:rPr lang="en-US" sz="2400" b="1" noProof="0" dirty="0"/>
              <a:t>Fuzzy</a:t>
            </a:r>
            <a:r>
              <a:rPr lang="en-US" sz="2400" noProof="0" dirty="0"/>
              <a:t> and </a:t>
            </a:r>
            <a:r>
              <a:rPr lang="en-US" sz="2400" b="1" noProof="0" dirty="0"/>
              <a:t>Neuro-Fuzzy</a:t>
            </a:r>
            <a:r>
              <a:rPr lang="en-US" sz="2400" noProof="0" dirty="0"/>
              <a:t> models are effective tools for modeling such complex, uncertain systems.</a:t>
            </a:r>
          </a:p>
          <a:p>
            <a:r>
              <a:rPr lang="en-US" sz="2400" b="1" noProof="0" dirty="0"/>
              <a:t>Main Objective:</a:t>
            </a:r>
            <a:r>
              <a:rPr lang="en-US" sz="2400" noProof="0" dirty="0"/>
              <a:t> Compare the performance of different fuzzy models against a </a:t>
            </a:r>
            <a:r>
              <a:rPr lang="en-US" sz="2400" b="1" noProof="0" dirty="0"/>
              <a:t>Deep Learning</a:t>
            </a:r>
            <a:r>
              <a:rPr lang="en-US" sz="2400" noProof="0" dirty="0"/>
              <a:t> approach.</a:t>
            </a:r>
          </a:p>
          <a:p>
            <a:pPr marL="0" indent="0">
              <a:buNone/>
            </a:pP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179816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D1A9A-004E-57D8-FE06-7B83308A6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700F77-C983-E78F-464C-4B16AF9A2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97"/>
            <a:ext cx="10515600" cy="1273233"/>
          </a:xfrm>
        </p:spPr>
        <p:txBody>
          <a:bodyPr>
            <a:normAutofit/>
          </a:bodyPr>
          <a:lstStyle/>
          <a:p>
            <a:r>
              <a:rPr lang="en-US" sz="4000" noProof="0" dirty="0"/>
              <a:t>Dataset Evaluation a Preparation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8F23-E1A5-5801-FDDF-58691AB6F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8024"/>
            <a:ext cx="10515600" cy="3694176"/>
          </a:xfrm>
        </p:spPr>
        <p:txBody>
          <a:bodyPr>
            <a:normAutofit/>
          </a:bodyPr>
          <a:lstStyle/>
          <a:p>
            <a:r>
              <a:rPr lang="en-US" sz="2400" noProof="0" dirty="0"/>
              <a:t>Contains 9,358 hourly measurements collected between March 2004 and February 2005;</a:t>
            </a:r>
          </a:p>
          <a:p>
            <a:r>
              <a:rPr lang="en-US" sz="2400" noProof="0" dirty="0"/>
              <a:t>The original dataset includes 15 numerical attributes: </a:t>
            </a:r>
          </a:p>
          <a:p>
            <a:pPr marL="0" indent="0">
              <a:buNone/>
            </a:pPr>
            <a:r>
              <a:rPr lang="en-US" sz="2400" noProof="0" dirty="0"/>
              <a:t>Date, Time, CO(GT), PT08.S1(CO), NMHC(GT), C6H6(GT), PT08.S2(NMHC), NOx(GT), PT08.S3(NOx), NO2(GT), PT08.S4(NO2), PT08.S5(O3), T, RH, and AH.</a:t>
            </a:r>
          </a:p>
          <a:p>
            <a:pPr marL="0" indent="0">
              <a:buNone/>
            </a:pPr>
            <a:endParaRPr lang="en-US" sz="2200" noProof="0" dirty="0"/>
          </a:p>
        </p:txBody>
      </p:sp>
    </p:spTree>
    <p:extLst>
      <p:ext uri="{BB962C8B-B14F-4D97-AF65-F5344CB8AC3E}">
        <p14:creationId xmlns:p14="http://schemas.microsoft.com/office/powerpoint/2010/main" val="357367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5549E48-55B4-43FA-96F3-A3F777E0F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465C3-7E3A-EB6F-54D6-AFC9C316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noProof="0" dirty="0"/>
              <a:t>Dataset Evaluation and Preparation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241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CF844-B127-5F3E-F8DB-459B5B9B4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48" y="2154563"/>
            <a:ext cx="3703320" cy="3610736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60A392F-C15E-20D7-7529-CA4A76CB8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683" y="712908"/>
            <a:ext cx="5443870" cy="2939690"/>
          </a:xfrm>
          <a:prstGeom prst="rect">
            <a:avLst/>
          </a:prstGeom>
        </p:spPr>
      </p:pic>
      <p:pic>
        <p:nvPicPr>
          <p:cNvPr id="11" name="Picture 10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ECF7BE14-BA60-512B-AEC1-5E379282C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416" y="3959931"/>
            <a:ext cx="5965746" cy="241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34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FC2FB-A3A6-3EF5-BC77-A3902AB1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043E32-D948-1FD5-E096-008F5AFAC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noProof="0" dirty="0"/>
              <a:t>Features</a:t>
            </a:r>
            <a:endParaRPr lang="en-US" sz="48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64238A-A289-24A1-97B3-FD73C74BB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134" y="933359"/>
            <a:ext cx="3055012" cy="545538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CBBD47-1DD7-8A2D-36DB-BF4577BC8FAD}"/>
              </a:ext>
            </a:extLst>
          </p:cNvPr>
          <p:cNvCxnSpPr/>
          <p:nvPr/>
        </p:nvCxnSpPr>
        <p:spPr>
          <a:xfrm flipH="1">
            <a:off x="7466884" y="2658284"/>
            <a:ext cx="15173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5CCED56-55A9-7071-F8D6-6D26E378BB54}"/>
              </a:ext>
            </a:extLst>
          </p:cNvPr>
          <p:cNvSpPr txBox="1"/>
          <p:nvPr/>
        </p:nvSpPr>
        <p:spPr>
          <a:xfrm>
            <a:off x="9130891" y="2262765"/>
            <a:ext cx="2802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Target: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Carcinogenic effects at low concentrations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970C50-0810-C1B9-09AE-6172887E06BF}"/>
              </a:ext>
            </a:extLst>
          </p:cNvPr>
          <p:cNvCxnSpPr/>
          <p:nvPr/>
        </p:nvCxnSpPr>
        <p:spPr>
          <a:xfrm flipH="1">
            <a:off x="7586459" y="1305441"/>
            <a:ext cx="15173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1877DC6-77D9-669C-DD05-8F09ECB71E96}"/>
              </a:ext>
            </a:extLst>
          </p:cNvPr>
          <p:cNvSpPr txBox="1"/>
          <p:nvPr/>
        </p:nvSpPr>
        <p:spPr>
          <a:xfrm>
            <a:off x="9187162" y="1126344"/>
            <a:ext cx="2802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Not features </a:t>
            </a:r>
          </a:p>
        </p:txBody>
      </p:sp>
    </p:spTree>
    <p:extLst>
      <p:ext uri="{BB962C8B-B14F-4D97-AF65-F5344CB8AC3E}">
        <p14:creationId xmlns:p14="http://schemas.microsoft.com/office/powerpoint/2010/main" val="3386540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1291-12F3-6270-C31E-1818E8DD6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69496"/>
          </a:xfrm>
        </p:spPr>
        <p:txBody>
          <a:bodyPr/>
          <a:lstStyle/>
          <a:p>
            <a:r>
              <a:rPr lang="en-US" noProof="0" dirty="0"/>
              <a:t>Evaluation of Each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F5613-7FF4-F7F6-7C43-CF0FA7724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40204"/>
            <a:ext cx="9483655" cy="439185"/>
          </a:xfrm>
        </p:spPr>
        <p:txBody>
          <a:bodyPr/>
          <a:lstStyle/>
          <a:p>
            <a:r>
              <a:rPr lang="en-US" noProof="0" dirty="0"/>
              <a:t>Fuzzy Model Optimized with Least Squares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BA8A5C0-E552-7235-000A-E2311CB3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2" y="2354467"/>
            <a:ext cx="537427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TSK model baseline chosen for its interpretability and robustness to noisy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Fuzzy rules generated via Fuzzy C-Means and Gaussian MFs initialized and rule outputs trained using Least Squares regression.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RMSE = 0.2196; 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8A7E7967-342C-BCCB-22A9-BBE00F9C3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889" y="1579389"/>
            <a:ext cx="5114021" cy="497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5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3C46-FF76-74FC-217D-19BF7833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D50FA-A298-9FE7-D884-3E2642F8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69496"/>
          </a:xfrm>
        </p:spPr>
        <p:txBody>
          <a:bodyPr/>
          <a:lstStyle/>
          <a:p>
            <a:r>
              <a:rPr lang="en-US" noProof="0" dirty="0"/>
              <a:t>Evaluation of Each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67421-318E-11BE-B85E-09AC56258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40204"/>
            <a:ext cx="9483655" cy="439185"/>
          </a:xfrm>
        </p:spPr>
        <p:txBody>
          <a:bodyPr/>
          <a:lstStyle/>
          <a:p>
            <a:r>
              <a:rPr lang="en-US" noProof="0" dirty="0"/>
              <a:t>ANFIS model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7C0A113-ED86-BF3D-1B8D-55856250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2" y="2452536"/>
            <a:ext cx="492808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noProof="0" dirty="0"/>
              <a:t>ANFIS Architecture:</a:t>
            </a:r>
            <a:r>
              <a:rPr lang="en-US" sz="2400" noProof="0" dirty="0"/>
              <a:t> First-order Takagi–</a:t>
            </a:r>
            <a:r>
              <a:rPr lang="en-US" sz="2400" noProof="0" dirty="0" err="1"/>
              <a:t>Sugeno</a:t>
            </a:r>
            <a:r>
              <a:rPr lang="en-US" sz="2400" noProof="0" dirty="0"/>
              <a:t>–Kang (TSK) structure with five Gaussian membership functions per input, combining fuzzy rules with linear consequents to model nonlinear relationships while maintaining interpretability.</a:t>
            </a: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61F93F47-AE8A-62F7-F839-88066D096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679" y="1140204"/>
            <a:ext cx="4945401" cy="535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0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6E32F-0591-9D2F-386A-CAD2371D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33CA324-E399-58EA-0686-EC168A8AC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0204"/>
            <a:ext cx="5957045" cy="5558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0AD053-B18E-0C69-4C59-E396B02B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69496"/>
          </a:xfrm>
        </p:spPr>
        <p:txBody>
          <a:bodyPr/>
          <a:lstStyle/>
          <a:p>
            <a:r>
              <a:rPr lang="en-US" noProof="0" dirty="0"/>
              <a:t>Evaluation of Each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27F92-5E2A-2E2E-8740-54EB2FBFA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40204"/>
            <a:ext cx="9483655" cy="439185"/>
          </a:xfrm>
        </p:spPr>
        <p:txBody>
          <a:bodyPr/>
          <a:lstStyle/>
          <a:p>
            <a:r>
              <a:rPr lang="en-US" noProof="0" dirty="0"/>
              <a:t>ANFIS model Hybrid Optimization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8E7891F-A99F-D619-754B-879A80243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2" y="1707443"/>
            <a:ext cx="534552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 Antecedent parameters (membership functions) initialized via Fuzzy C-Means clustering; training alternates between gradient descent for antecedents and least squares for consequent (linear)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 Learning rate of 0.001, batch size of 32, and 10 hybrid iterations (each with 20 GD epochs), enabling efficient convergence and high predictive accuracy.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noProof="0" dirty="0"/>
              <a:t> RMSE = 0.1911;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3329660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B6D00-83AB-EBCB-1A61-4C87EE3D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DD29-EE51-781A-6B29-C287A028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69496"/>
          </a:xfrm>
        </p:spPr>
        <p:txBody>
          <a:bodyPr/>
          <a:lstStyle/>
          <a:p>
            <a:r>
              <a:rPr lang="en-US" noProof="0" dirty="0"/>
              <a:t>Evaluation of Each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CE883-457C-FF8C-EB49-316972164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40204"/>
            <a:ext cx="9483655" cy="439185"/>
          </a:xfrm>
        </p:spPr>
        <p:txBody>
          <a:bodyPr/>
          <a:lstStyle/>
          <a:p>
            <a:r>
              <a:rPr lang="en-US" noProof="0" dirty="0"/>
              <a:t>ANFIS model Fully Neural Optimization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78FC4C-3A79-DA09-6824-B68DB21F4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2" y="1765875"/>
            <a:ext cx="561719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 All parameters (membership functions and consequents) are jointly optimized using backpropagation with the Adam optimizer, without clustering-based initialization (random MF initialization).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 Same architecture as the hybrid ANFIS; trained for 100 epochs with learning rate 0.001 and batch size 32, monitoring training and validation losses to ensure convergence.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noProof="0" dirty="0"/>
              <a:t> RMSE = 0.7982;</a:t>
            </a:r>
          </a:p>
        </p:txBody>
      </p:sp>
      <p:pic>
        <p:nvPicPr>
          <p:cNvPr id="9" name="Picture 8" descr="A graph of training and validation loss curves&#10;&#10;AI-generated content may be incorrect.">
            <a:extLst>
              <a:ext uri="{FF2B5EF4-FFF2-40B4-BE49-F238E27FC236}">
                <a16:creationId xmlns:a16="http://schemas.microsoft.com/office/drawing/2014/main" id="{6858F464-8437-79B1-6460-EF30E295B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10" y="1814256"/>
            <a:ext cx="5532599" cy="4198984"/>
          </a:xfrm>
          <a:prstGeom prst="rect">
            <a:avLst/>
          </a:prstGeom>
        </p:spPr>
      </p:pic>
      <p:pic>
        <p:nvPicPr>
          <p:cNvPr id="6" name="Picture 5" descr="A graph with a line and a dotted line&#10;&#10;AI-generated content may be incorrect.">
            <a:extLst>
              <a:ext uri="{FF2B5EF4-FFF2-40B4-BE49-F238E27FC236}">
                <a16:creationId xmlns:a16="http://schemas.microsoft.com/office/drawing/2014/main" id="{D8707ECF-814F-A57E-6713-0293605CA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810" y="1002133"/>
            <a:ext cx="5483332" cy="549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92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D9F8-B6EA-D6AD-91C9-4B3776FC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B7F7-E271-BEEA-0AF7-A91B688B2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69496"/>
          </a:xfrm>
        </p:spPr>
        <p:txBody>
          <a:bodyPr/>
          <a:lstStyle/>
          <a:p>
            <a:r>
              <a:rPr lang="en-US" noProof="0" dirty="0"/>
              <a:t>Evaluation of Each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47C2B-E6BD-2C21-D48B-76B22AD09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40204"/>
            <a:ext cx="9483655" cy="439185"/>
          </a:xfrm>
        </p:spPr>
        <p:txBody>
          <a:bodyPr/>
          <a:lstStyle/>
          <a:p>
            <a:r>
              <a:rPr lang="en-US" noProof="0" dirty="0"/>
              <a:t>LSTM Training and Testing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D851CA-B42D-8C15-0AEF-B0E4F6FAA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2" y="2133386"/>
            <a:ext cx="584911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LSTM Architecture: Two-layer network with 128 hidden units per layer, designed to learn temporal dependencies from past sensor data to predict future benzene concentrations.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Training Setup: Input sequences of 10 time steps, trained for 20 epochs using the Adam optimizer and MSE loss (batch size 32, learning rate 0.001).</a:t>
            </a:r>
          </a:p>
        </p:txBody>
      </p:sp>
      <p:pic>
        <p:nvPicPr>
          <p:cNvPr id="8" name="Picture 7" descr="A graph of a training and validation loss&#10;&#10;AI-generated content may be incorrect.">
            <a:extLst>
              <a:ext uri="{FF2B5EF4-FFF2-40B4-BE49-F238E27FC236}">
                <a16:creationId xmlns:a16="http://schemas.microsoft.com/office/drawing/2014/main" id="{10EB2177-F812-C20A-CE3A-B1967C625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21" y="1385912"/>
            <a:ext cx="4940410" cy="3886735"/>
          </a:xfrm>
          <a:prstGeom prst="rect">
            <a:avLst/>
          </a:prstGeom>
        </p:spPr>
      </p:pic>
      <p:pic>
        <p:nvPicPr>
          <p:cNvPr id="11" name="Picture 10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04A91930-D8B4-8FC6-943A-A7AB62404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21" y="1140204"/>
            <a:ext cx="5151566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75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18FF6-60A7-4534-65BD-7A12CC444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75B72-3044-BBCE-7333-1287D5B5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69496"/>
          </a:xfrm>
        </p:spPr>
        <p:txBody>
          <a:bodyPr/>
          <a:lstStyle/>
          <a:p>
            <a:r>
              <a:rPr lang="en-US" noProof="0" dirty="0"/>
              <a:t>Evaluation of Each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B8B7DB-9832-A30E-38B7-34159092A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40204"/>
            <a:ext cx="9483655" cy="439185"/>
          </a:xfrm>
        </p:spPr>
        <p:txBody>
          <a:bodyPr/>
          <a:lstStyle/>
          <a:p>
            <a:r>
              <a:rPr lang="en-US" noProof="0" dirty="0"/>
              <a:t>FZ-CNN-LSTM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DBF44-AC6A-02B4-18CE-8E443D9ED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782" y="1782859"/>
            <a:ext cx="5645372" cy="382087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369C5B9-2D05-7E19-BE46-87B358D9F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2" y="2354467"/>
            <a:ext cx="577132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 Integrates fuzzy logic, convolutional, and recurrent components to model nonlinear and time-dependent pollutant </a:t>
            </a:r>
            <a:r>
              <a:rPr lang="en-US" sz="2400" noProof="0" dirty="0" err="1"/>
              <a:t>behaviour</a:t>
            </a:r>
            <a:r>
              <a:rPr lang="en-US" sz="2400" noProof="0" dirty="0"/>
              <a:t>; fuzzy Gaussian memberships convert raw inputs into linguistic features, enhancing interpretability and robustness to uncertainty.</a:t>
            </a:r>
          </a:p>
        </p:txBody>
      </p:sp>
    </p:spTree>
    <p:extLst>
      <p:ext uri="{BB962C8B-B14F-4D97-AF65-F5344CB8AC3E}">
        <p14:creationId xmlns:p14="http://schemas.microsoft.com/office/powerpoint/2010/main" val="1243214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41DAC-E899-ABED-2B96-CC74C8028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18B9-BC81-1B88-4318-FB3238DC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969496"/>
          </a:xfrm>
        </p:spPr>
        <p:txBody>
          <a:bodyPr/>
          <a:lstStyle/>
          <a:p>
            <a:r>
              <a:rPr lang="en-US" noProof="0" dirty="0"/>
              <a:t>Evaluation of Each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350AE-6C6F-4CDF-83EE-D70B1AA5A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40204"/>
            <a:ext cx="9483655" cy="439185"/>
          </a:xfrm>
        </p:spPr>
        <p:txBody>
          <a:bodyPr/>
          <a:lstStyle/>
          <a:p>
            <a:r>
              <a:rPr lang="en-US" noProof="0" dirty="0"/>
              <a:t>FZ-CNN-LSTM Training and Testing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B10CD7-C5DB-09D4-2668-21BF012C3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75" y="2728022"/>
            <a:ext cx="657822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 Fixed learning rate of 0.001, batch size 32, sequence length 10, 200 epochs; fuzzy layer initialized with five Gaussian membership functions.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 RMSE: 0.4149.</a:t>
            </a:r>
          </a:p>
        </p:txBody>
      </p:sp>
      <p:pic>
        <p:nvPicPr>
          <p:cNvPr id="8" name="Picture 7" descr="A graph of training and validation&#10;&#10;AI-generated content may be incorrect.">
            <a:extLst>
              <a:ext uri="{FF2B5EF4-FFF2-40B4-BE49-F238E27FC236}">
                <a16:creationId xmlns:a16="http://schemas.microsoft.com/office/drawing/2014/main" id="{7B5BDB12-4DA5-A715-C417-F43253751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722" y="1570940"/>
            <a:ext cx="5311600" cy="4244708"/>
          </a:xfrm>
          <a:prstGeom prst="rect">
            <a:avLst/>
          </a:prstGeom>
        </p:spPr>
      </p:pic>
      <p:pic>
        <p:nvPicPr>
          <p:cNvPr id="10" name="Picture 9" descr="A graph with a dotted line&#10;&#10;AI-generated content may be incorrect.">
            <a:extLst>
              <a:ext uri="{FF2B5EF4-FFF2-40B4-BE49-F238E27FC236}">
                <a16:creationId xmlns:a16="http://schemas.microsoft.com/office/drawing/2014/main" id="{D3A45CAB-FE45-14A3-58E3-8FC3D33E9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722" y="1140204"/>
            <a:ext cx="5407672" cy="543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9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DE286-903C-DB4D-F9B5-204719F50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083F-21EB-1001-A4A8-F4529A4E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noProof="0" dirty="0"/>
              <a:t>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8D7349-82A6-C7F8-509E-64B413C68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94" y="5129785"/>
            <a:ext cx="3839111" cy="1600423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118D0560-E06A-5BE5-036B-30F3AD6D1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568" y="1344133"/>
            <a:ext cx="1075756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Hybrid Models Lead in Balance: ANFIS and other hybrid approaches achieved the best trade-off between predictive accuracy, interpretability, and computational stability, effectively capturing nonlinear relationships while remaining understandable.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Deep Learning Limitations: LSTM and FL-CNN-LSTM captured temporal dependencies but showed modest accuracy improvements due to limited data, short temporal windows, and sensitivity to noise and overfitting.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noProof="0" dirty="0"/>
              <a:t>Fuzzy Systems’ Robustness: Simpler fuzzy models demonstrated strong resilience to noise and missing data, highlighting that interpretability and reliability can outweigh model complexity in data-constrained scenarios.</a:t>
            </a:r>
          </a:p>
        </p:txBody>
      </p:sp>
    </p:spTree>
    <p:extLst>
      <p:ext uri="{BB962C8B-B14F-4D97-AF65-F5344CB8AC3E}">
        <p14:creationId xmlns:p14="http://schemas.microsoft.com/office/powerpoint/2010/main" val="1272143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644</Words>
  <Application>Microsoft Office PowerPoint</Application>
  <PresentationFormat>Widescreen</PresentationFormat>
  <Paragraphs>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Predicting Air Quality in Italy Using Fuzzy and Neuro-Fuzzy Modelling</vt:lpstr>
      <vt:lpstr>Introduction</vt:lpstr>
      <vt:lpstr>Dataset Evaluation a Preparation</vt:lpstr>
      <vt:lpstr>Dataset Evaluation and Preparation</vt:lpstr>
      <vt:lpstr>Features</vt:lpstr>
      <vt:lpstr>Evaluation of Each Model</vt:lpstr>
      <vt:lpstr>Evaluation of Each Model</vt:lpstr>
      <vt:lpstr>Evaluation of Each Model</vt:lpstr>
      <vt:lpstr>Evaluation of Each Model</vt:lpstr>
      <vt:lpstr>Evaluation of Each Model</vt:lpstr>
      <vt:lpstr>Evaluation of Each Model</vt:lpstr>
      <vt:lpstr>Evaluation of Each Model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Afonso Duarte</dc:creator>
  <cp:lastModifiedBy>Afonso Duarte</cp:lastModifiedBy>
  <cp:revision>2</cp:revision>
  <dcterms:created xsi:type="dcterms:W3CDTF">2025-10-21T14:56:20Z</dcterms:created>
  <dcterms:modified xsi:type="dcterms:W3CDTF">2025-10-21T18:25:16Z</dcterms:modified>
</cp:coreProperties>
</file>